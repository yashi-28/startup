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8991600" cy="5753100"/>
  <p:notesSz cx="6858000" cy="9144000"/>
  <p:embeddedFontLst>
    <p:embeddedFont>
      <p:font typeface="TT Rounds Condensed Bold" charset="1" panose="02000806030000020003"/>
      <p:regular r:id="rId15"/>
    </p:embeddedFont>
    <p:embeddedFont>
      <p:font typeface="TT Rounds Condensed" charset="1" panose="02000506030000020003"/>
      <p:regular r:id="rId16"/>
    </p:embeddedFont>
    <p:embeddedFont>
      <p:font typeface="Times New Roman Bold" charset="1" panose="02020803070505020304"/>
      <p:regular r:id="rId17"/>
    </p:embeddedFont>
    <p:embeddedFont>
      <p:font typeface="Times New Roman" charset="1" panose="02020603050405020304"/>
      <p:regular r:id="rId18"/>
    </p:embeddedFont>
    <p:embeddedFont>
      <p:font typeface="Arial Bold" charset="1" panose="020B07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Relationship Id="rId5" Target="https://startup-backend-tx8s.onrender.com/" TargetMode="External" Type="http://schemas.openxmlformats.org/officeDocument/2006/relationships/hyperlink"/><Relationship Id="rId6" Target="https://github.com/Yashi-28/Startup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0" y="3022911"/>
            <a:ext cx="4352115" cy="548678"/>
            <a:chOff x="0" y="0"/>
            <a:chExt cx="4352112" cy="5486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52165" cy="548643"/>
            </a:xfrm>
            <a:custGeom>
              <a:avLst/>
              <a:gdLst/>
              <a:ahLst/>
              <a:cxnLst/>
              <a:rect r="r" b="b" t="t" l="l"/>
              <a:pathLst>
                <a:path h="548643" w="4352165">
                  <a:moveTo>
                    <a:pt x="4149091" y="0"/>
                  </a:moveTo>
                  <a:lnTo>
                    <a:pt x="0" y="0"/>
                  </a:lnTo>
                  <a:lnTo>
                    <a:pt x="0" y="548643"/>
                  </a:lnTo>
                  <a:lnTo>
                    <a:pt x="4149091" y="548643"/>
                  </a:lnTo>
                  <a:lnTo>
                    <a:pt x="4352165" y="274321"/>
                  </a:lnTo>
                  <a:lnTo>
                    <a:pt x="4149091" y="0"/>
                  </a:lnTo>
                  <a:close/>
                </a:path>
              </a:pathLst>
            </a:custGeom>
            <a:solidFill>
              <a:srgbClr val="04288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2" y="1067"/>
            <a:ext cx="4150566" cy="126625"/>
            <a:chOff x="0" y="0"/>
            <a:chExt cx="4150563" cy="1266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50614" cy="126621"/>
            </a:xfrm>
            <a:custGeom>
              <a:avLst/>
              <a:gdLst/>
              <a:ahLst/>
              <a:cxnLst/>
              <a:rect r="r" b="b" t="t" l="l"/>
              <a:pathLst>
                <a:path h="126621" w="4150614">
                  <a:moveTo>
                    <a:pt x="0" y="0"/>
                  </a:moveTo>
                  <a:lnTo>
                    <a:pt x="0" y="126621"/>
                  </a:lnTo>
                  <a:lnTo>
                    <a:pt x="4150614" y="126621"/>
                  </a:lnTo>
                  <a:lnTo>
                    <a:pt x="4150614" y="0"/>
                  </a:lnTo>
                  <a:close/>
                </a:path>
              </a:pathLst>
            </a:custGeom>
            <a:solidFill>
              <a:srgbClr val="04288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86" y="5614940"/>
            <a:ext cx="7568203" cy="127178"/>
            <a:chOff x="0" y="0"/>
            <a:chExt cx="7568197" cy="1271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68178" cy="127130"/>
            </a:xfrm>
            <a:custGeom>
              <a:avLst/>
              <a:gdLst/>
              <a:ahLst/>
              <a:cxnLst/>
              <a:rect r="r" b="b" t="t" l="l"/>
              <a:pathLst>
                <a:path h="127130" w="7568178">
                  <a:moveTo>
                    <a:pt x="0" y="0"/>
                  </a:moveTo>
                  <a:lnTo>
                    <a:pt x="7568178" y="0"/>
                  </a:lnTo>
                  <a:lnTo>
                    <a:pt x="7568178" y="127130"/>
                  </a:lnTo>
                  <a:lnTo>
                    <a:pt x="0" y="127130"/>
                  </a:lnTo>
                  <a:close/>
                </a:path>
              </a:pathLst>
            </a:custGeom>
            <a:solidFill>
              <a:srgbClr val="04288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15865" y="4308281"/>
            <a:ext cx="395211" cy="381762"/>
            <a:chOff x="0" y="0"/>
            <a:chExt cx="526948" cy="509016"/>
          </a:xfrm>
        </p:grpSpPr>
        <p:sp>
          <p:nvSpPr>
            <p:cNvPr name="Freeform 9" id="9" descr="A blue circle with a person and a envelope in it  AI-generated content may be incorrect."/>
            <p:cNvSpPr/>
            <p:nvPr/>
          </p:nvSpPr>
          <p:spPr>
            <a:xfrm flipH="false" flipV="false" rot="0">
              <a:off x="0" y="0"/>
              <a:ext cx="526923" cy="509016"/>
            </a:xfrm>
            <a:custGeom>
              <a:avLst/>
              <a:gdLst/>
              <a:ahLst/>
              <a:cxnLst/>
              <a:rect r="r" b="b" t="t" l="l"/>
              <a:pathLst>
                <a:path h="509016" w="526923">
                  <a:moveTo>
                    <a:pt x="0" y="0"/>
                  </a:moveTo>
                  <a:lnTo>
                    <a:pt x="526923" y="0"/>
                  </a:lnTo>
                  <a:lnTo>
                    <a:pt x="526923" y="509016"/>
                  </a:lnTo>
                  <a:lnTo>
                    <a:pt x="0" y="509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8956" t="-5596" r="-61431" b="-12254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802512" y="4299204"/>
            <a:ext cx="398240" cy="389715"/>
            <a:chOff x="0" y="0"/>
            <a:chExt cx="530987" cy="519620"/>
          </a:xfrm>
        </p:grpSpPr>
        <p:sp>
          <p:nvSpPr>
            <p:cNvPr name="Freeform 11" id="11" descr="A blue circle with a person and a envelope in it  AI-generated content may be incorrect."/>
            <p:cNvSpPr/>
            <p:nvPr/>
          </p:nvSpPr>
          <p:spPr>
            <a:xfrm flipH="false" flipV="false" rot="0">
              <a:off x="0" y="0"/>
              <a:ext cx="530987" cy="519557"/>
            </a:xfrm>
            <a:custGeom>
              <a:avLst/>
              <a:gdLst/>
              <a:ahLst/>
              <a:cxnLst/>
              <a:rect r="r" b="b" t="t" l="l"/>
              <a:pathLst>
                <a:path h="519557" w="530987">
                  <a:moveTo>
                    <a:pt x="0" y="0"/>
                  </a:moveTo>
                  <a:lnTo>
                    <a:pt x="530987" y="0"/>
                  </a:lnTo>
                  <a:lnTo>
                    <a:pt x="530987" y="519557"/>
                  </a:lnTo>
                  <a:lnTo>
                    <a:pt x="0" y="519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8057" t="-115712" r="-57921" b="-501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5542093"/>
            <a:ext cx="7571299" cy="198511"/>
            <a:chOff x="0" y="0"/>
            <a:chExt cx="7571296" cy="1985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71356" cy="198504"/>
            </a:xfrm>
            <a:custGeom>
              <a:avLst/>
              <a:gdLst/>
              <a:ahLst/>
              <a:cxnLst/>
              <a:rect r="r" b="b" t="t" l="l"/>
              <a:pathLst>
                <a:path h="198504" w="7571356">
                  <a:moveTo>
                    <a:pt x="0" y="198504"/>
                  </a:moveTo>
                  <a:lnTo>
                    <a:pt x="7571356" y="198504"/>
                  </a:lnTo>
                  <a:lnTo>
                    <a:pt x="75713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4153367" cy="126178"/>
            <a:chOff x="0" y="0"/>
            <a:chExt cx="4153370" cy="1261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53411" cy="126235"/>
            </a:xfrm>
            <a:custGeom>
              <a:avLst/>
              <a:gdLst/>
              <a:ahLst/>
              <a:cxnLst/>
              <a:rect r="r" b="b" t="t" l="l"/>
              <a:pathLst>
                <a:path h="126235" w="4153411">
                  <a:moveTo>
                    <a:pt x="0" y="0"/>
                  </a:moveTo>
                  <a:lnTo>
                    <a:pt x="0" y="126235"/>
                  </a:lnTo>
                  <a:lnTo>
                    <a:pt x="4153411" y="126235"/>
                  </a:lnTo>
                  <a:lnTo>
                    <a:pt x="415341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" y="2971514"/>
            <a:ext cx="4350601" cy="598284"/>
            <a:chOff x="0" y="0"/>
            <a:chExt cx="4350601" cy="5982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50639" cy="598297"/>
            </a:xfrm>
            <a:custGeom>
              <a:avLst/>
              <a:gdLst/>
              <a:ahLst/>
              <a:cxnLst/>
              <a:rect r="r" b="b" t="t" l="l"/>
              <a:pathLst>
                <a:path h="598297" w="4350639">
                  <a:moveTo>
                    <a:pt x="0" y="598297"/>
                  </a:moveTo>
                  <a:lnTo>
                    <a:pt x="4350639" y="598297"/>
                  </a:lnTo>
                  <a:lnTo>
                    <a:pt x="43506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788082" y="198387"/>
            <a:ext cx="3193028" cy="1457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b="true" sz="8499">
                <a:solidFill>
                  <a:srgbClr val="0D358D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NexalQ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75300" y="1834305"/>
            <a:ext cx="4042248" cy="63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b="true" sz="3699" spc="18">
                <a:solidFill>
                  <a:srgbClr val="0D358D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Team Name : Algorix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01890" y="3069269"/>
            <a:ext cx="41910" cy="27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4"/>
              </a:lnSpc>
            </a:pPr>
            <a:r>
              <a:rPr lang="en-US" b="true" sz="1617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6725" y="3069269"/>
            <a:ext cx="3075480" cy="27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4"/>
              </a:lnSpc>
            </a:pPr>
            <a:r>
              <a:rPr lang="en-US" b="true" sz="1617" spc="572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P R E S E N T A T I O N 2 0 2 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1032" y="4238130"/>
            <a:ext cx="1202465" cy="28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Student Name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231347" y="4241683"/>
            <a:ext cx="1173232" cy="28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Student Email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48876" y="4485132"/>
            <a:ext cx="1311526" cy="484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"/>
              </a:lnSpc>
            </a:pPr>
            <a:r>
              <a:rPr lang="en-US" sz="15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Guide</a:t>
            </a:r>
          </a:p>
          <a:p>
            <a:pPr algn="l">
              <a:lnSpc>
                <a:spcPts val="900"/>
              </a:lnSpc>
            </a:pPr>
          </a:p>
          <a:p>
            <a:pPr algn="l">
              <a:lnSpc>
                <a:spcPts val="900"/>
              </a:lnSpc>
            </a:pPr>
          </a:p>
          <a:p>
            <a:pPr algn="l">
              <a:lnSpc>
                <a:spcPts val="900"/>
              </a:lnSpc>
            </a:pPr>
            <a:r>
              <a:rPr lang="en-US" b="true" sz="1800">
                <a:solidFill>
                  <a:srgbClr val="0D358D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Dr. Ankit Dixit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45429" y="4660316"/>
            <a:ext cx="1636481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b="true" sz="1800" spc="10">
                <a:solidFill>
                  <a:srgbClr val="0D358D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Yashi Srivastava Utkarsh Kumar Varsha Jaiswal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200791" y="4607138"/>
            <a:ext cx="3024235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25"/>
              </a:lnSpc>
            </a:pPr>
            <a:r>
              <a:rPr lang="en-US" b="true" sz="1800">
                <a:solidFill>
                  <a:srgbClr val="0D358D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yashisrivastava800@gamil.com utkarshkumar6565@gmail.com jaiswalvarsha943@gmail.com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9473"/>
            <a:ext cx="8991600" cy="547002"/>
            <a:chOff x="0" y="0"/>
            <a:chExt cx="11988800" cy="7293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988800" cy="729361"/>
            </a:xfrm>
            <a:custGeom>
              <a:avLst/>
              <a:gdLst/>
              <a:ahLst/>
              <a:cxnLst/>
              <a:rect r="r" b="b" t="t" l="l"/>
              <a:pathLst>
                <a:path h="729361" w="11988800">
                  <a:moveTo>
                    <a:pt x="0" y="0"/>
                  </a:moveTo>
                  <a:lnTo>
                    <a:pt x="11988800" y="0"/>
                  </a:lnTo>
                  <a:lnTo>
                    <a:pt x="11988800" y="729361"/>
                  </a:lnTo>
                  <a:lnTo>
                    <a:pt x="0" y="729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31" t="0" r="-426" b="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0150" y="1119568"/>
            <a:ext cx="95250" cy="95250"/>
            <a:chOff x="0" y="0"/>
            <a:chExt cx="95250" cy="95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377" cy="95377"/>
            </a:xfrm>
            <a:custGeom>
              <a:avLst/>
              <a:gdLst/>
              <a:ahLst/>
              <a:cxnLst/>
              <a:rect r="r" b="b" t="t" l="l"/>
              <a:pathLst>
                <a:path h="95377" w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90150" y="1662494"/>
            <a:ext cx="95250" cy="95250"/>
            <a:chOff x="0" y="0"/>
            <a:chExt cx="95250" cy="95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377" cy="95377"/>
            </a:xfrm>
            <a:custGeom>
              <a:avLst/>
              <a:gdLst/>
              <a:ahLst/>
              <a:cxnLst/>
              <a:rect r="r" b="b" t="t" l="l"/>
              <a:pathLst>
                <a:path h="95377" w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90150" y="2205418"/>
            <a:ext cx="95250" cy="95250"/>
            <a:chOff x="0" y="0"/>
            <a:chExt cx="95250" cy="95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377" cy="95377"/>
            </a:xfrm>
            <a:custGeom>
              <a:avLst/>
              <a:gdLst/>
              <a:ahLst/>
              <a:cxnLst/>
              <a:rect r="r" b="b" t="t" l="l"/>
              <a:pathLst>
                <a:path h="95377" w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90150" y="2748344"/>
            <a:ext cx="95250" cy="95250"/>
            <a:chOff x="0" y="0"/>
            <a:chExt cx="95250" cy="95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377" cy="95377"/>
            </a:xfrm>
            <a:custGeom>
              <a:avLst/>
              <a:gdLst/>
              <a:ahLst/>
              <a:cxnLst/>
              <a:rect r="r" b="b" t="t" l="l"/>
              <a:pathLst>
                <a:path h="95377" w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0150" y="3291269"/>
            <a:ext cx="95250" cy="95250"/>
            <a:chOff x="0" y="0"/>
            <a:chExt cx="95250" cy="95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377" cy="95377"/>
            </a:xfrm>
            <a:custGeom>
              <a:avLst/>
              <a:gdLst/>
              <a:ahLst/>
              <a:cxnLst/>
              <a:rect r="r" b="b" t="t" l="l"/>
              <a:pathLst>
                <a:path h="95377" w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90150" y="3834194"/>
            <a:ext cx="95250" cy="95250"/>
            <a:chOff x="0" y="0"/>
            <a:chExt cx="95250" cy="95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377" cy="95377"/>
            </a:xfrm>
            <a:custGeom>
              <a:avLst/>
              <a:gdLst/>
              <a:ahLst/>
              <a:cxnLst/>
              <a:rect r="r" b="b" t="t" l="l"/>
              <a:pathLst>
                <a:path h="95377" w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38100" y="184242"/>
            <a:ext cx="1672714" cy="49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OUTLINE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1524" y="855383"/>
            <a:ext cx="3385090" cy="321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of the Project Problem Statement Proposed Solution</a:t>
            </a:r>
          </a:p>
          <a:p>
            <a:pPr algn="l">
              <a:lnSpc>
                <a:spcPts val="4274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</a:p>
          <a:p>
            <a:pPr algn="l">
              <a:lnSpc>
                <a:spcPts val="4274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Demo of the Project Conclusion &amp;Future Scope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9473"/>
            <a:ext cx="8991600" cy="547002"/>
            <a:chOff x="0" y="0"/>
            <a:chExt cx="11988800" cy="7293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988800" cy="729361"/>
            </a:xfrm>
            <a:custGeom>
              <a:avLst/>
              <a:gdLst/>
              <a:ahLst/>
              <a:cxnLst/>
              <a:rect r="r" b="b" t="t" l="l"/>
              <a:pathLst>
                <a:path h="729361" w="11988800">
                  <a:moveTo>
                    <a:pt x="0" y="0"/>
                  </a:moveTo>
                  <a:lnTo>
                    <a:pt x="11988800" y="0"/>
                  </a:lnTo>
                  <a:lnTo>
                    <a:pt x="11988800" y="729361"/>
                  </a:lnTo>
                  <a:lnTo>
                    <a:pt x="0" y="729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31" t="0" r="-426" b="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8100" y="184242"/>
            <a:ext cx="1974990" cy="49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ABSTRACT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764" y="806996"/>
            <a:ext cx="9040225" cy="461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73"/>
              </a:lnSpc>
            </a:pPr>
            <a:r>
              <a:rPr lang="en-US" b="true" sz="255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●Core Summary:</a:t>
            </a:r>
            <a:r>
              <a:rPr lang="en-US" sz="255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NexalQ bridges the operational gap between raw startup concepts and structural market viability. The platform provides founders, incubators, and stakeholders with immediate quantitative success metrics alongside deep qualitative business intelligence. </a:t>
            </a:r>
          </a:p>
          <a:p>
            <a:pPr algn="just">
              <a:lnSpc>
                <a:spcPts val="4573"/>
              </a:lnSpc>
            </a:pPr>
            <a:r>
              <a:rPr lang="en-US" sz="255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</a:t>
            </a:r>
            <a:r>
              <a:rPr lang="en-US" b="true" sz="255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Statement: </a:t>
            </a:r>
            <a:r>
              <a:rPr lang="en-US" sz="255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changing how startup evaluations are handled, the platform converts ambiguous, high-risk conceptual indicators into clear, actionable, and data-backed strategic options.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9473"/>
            <a:ext cx="8991600" cy="547002"/>
            <a:chOff x="0" y="0"/>
            <a:chExt cx="11988800" cy="7293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988800" cy="729361"/>
            </a:xfrm>
            <a:custGeom>
              <a:avLst/>
              <a:gdLst/>
              <a:ahLst/>
              <a:cxnLst/>
              <a:rect r="r" b="b" t="t" l="l"/>
              <a:pathLst>
                <a:path h="729361" w="11988800">
                  <a:moveTo>
                    <a:pt x="0" y="0"/>
                  </a:moveTo>
                  <a:lnTo>
                    <a:pt x="11988800" y="0"/>
                  </a:lnTo>
                  <a:lnTo>
                    <a:pt x="11988800" y="729361"/>
                  </a:lnTo>
                  <a:lnTo>
                    <a:pt x="0" y="729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31" t="0" r="-426" b="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8100" y="184242"/>
            <a:ext cx="4201430" cy="49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0499" y="2689469"/>
            <a:ext cx="8526266" cy="2924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●Key Pitfalls:</a:t>
            </a:r>
          </a:p>
          <a:p>
            <a:pPr algn="l">
              <a:lnSpc>
                <a:spcPts val="4274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Inability to evaluate overlapping operational risk vectors</a:t>
            </a:r>
          </a:p>
          <a:p>
            <a:pPr algn="l">
              <a:lnSpc>
                <a:spcPts val="4274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simultaneously. </a:t>
            </a:r>
          </a:p>
          <a:p>
            <a:pPr algn="l">
              <a:lnSpc>
                <a:spcPts val="4274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•Heavy reliance on manual, slow, and expensive advisory processes.</a:t>
            </a:r>
          </a:p>
          <a:p>
            <a:pPr algn="l">
              <a:lnSpc>
                <a:spcPts val="4274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•High failure rates among early-stage startups due to a lack of data-</a:t>
            </a:r>
          </a:p>
          <a:p>
            <a:pPr algn="l">
              <a:lnSpc>
                <a:spcPts val="4274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driven market validation before launching.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0499" y="768544"/>
            <a:ext cx="8398745" cy="158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●The Core Challenge: 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Evaluating early-stage business concepts is highly complex due to unorganized qualitative data, erratic initial conditions, and high market volatility.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9473"/>
            <a:ext cx="8991600" cy="547002"/>
            <a:chOff x="0" y="0"/>
            <a:chExt cx="11988800" cy="7293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988800" cy="729361"/>
            </a:xfrm>
            <a:custGeom>
              <a:avLst/>
              <a:gdLst/>
              <a:ahLst/>
              <a:cxnLst/>
              <a:rect r="r" b="b" t="t" l="l"/>
              <a:pathLst>
                <a:path h="729361" w="11988800">
                  <a:moveTo>
                    <a:pt x="0" y="0"/>
                  </a:moveTo>
                  <a:lnTo>
                    <a:pt x="11988800" y="0"/>
                  </a:lnTo>
                  <a:lnTo>
                    <a:pt x="11988800" y="729361"/>
                  </a:lnTo>
                  <a:lnTo>
                    <a:pt x="0" y="729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31" t="0" r="-426" b="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8100" y="184242"/>
            <a:ext cx="3979907" cy="49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934" y="636727"/>
            <a:ext cx="74466" cy="410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934" y="2611803"/>
            <a:ext cx="8532705" cy="3115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•Multi-scenario risk assessment and automated target classification metrics. </a:t>
            </a:r>
          </a:p>
          <a:p>
            <a:pPr algn="l">
              <a:lnSpc>
                <a:spcPts val="4125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•Generative business intelligence providing real-time strategic recommendations. </a:t>
            </a:r>
          </a:p>
          <a:p>
            <a:pPr algn="l">
              <a:lnSpc>
                <a:spcPts val="4125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•Cost-effective, immediate business planning insights available directly through a simple single-page dashboard application.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1010" y="630603"/>
            <a:ext cx="7940050" cy="41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●AutomatedBusinessEvaluation: </a:t>
            </a: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NexalQ processes key startup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934" y="1068753"/>
            <a:ext cx="8824855" cy="1526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 metrics—including domain experience, funding requirements, marketing budgets, and competition levels—against historical models. </a:t>
            </a:r>
          </a:p>
          <a:p>
            <a:pPr algn="l">
              <a:lnSpc>
                <a:spcPts val="3946"/>
              </a:lnSpc>
            </a:pPr>
            <a:r>
              <a:rPr lang="en-US" sz="2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</a:t>
            </a:r>
            <a:r>
              <a:rPr lang="en-US" b="true" sz="2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Values Provided: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9473"/>
            <a:ext cx="8991600" cy="547002"/>
            <a:chOff x="0" y="0"/>
            <a:chExt cx="11988800" cy="7293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988800" cy="729361"/>
            </a:xfrm>
            <a:custGeom>
              <a:avLst/>
              <a:gdLst/>
              <a:ahLst/>
              <a:cxnLst/>
              <a:rect r="r" b="b" t="t" l="l"/>
              <a:pathLst>
                <a:path h="729361" w="11988800">
                  <a:moveTo>
                    <a:pt x="0" y="0"/>
                  </a:moveTo>
                  <a:lnTo>
                    <a:pt x="11988800" y="0"/>
                  </a:lnTo>
                  <a:lnTo>
                    <a:pt x="11988800" y="729361"/>
                  </a:lnTo>
                  <a:lnTo>
                    <a:pt x="0" y="729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31" t="0" r="-426" b="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47405" y="749246"/>
            <a:ext cx="5534025" cy="2124075"/>
            <a:chOff x="0" y="0"/>
            <a:chExt cx="7378700" cy="2832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78700" cy="2832100"/>
            </a:xfrm>
            <a:custGeom>
              <a:avLst/>
              <a:gdLst/>
              <a:ahLst/>
              <a:cxnLst/>
              <a:rect r="r" b="b" t="t" l="l"/>
              <a:pathLst>
                <a:path h="2832100" w="7378700">
                  <a:moveTo>
                    <a:pt x="0" y="0"/>
                  </a:moveTo>
                  <a:lnTo>
                    <a:pt x="7378700" y="0"/>
                  </a:lnTo>
                  <a:lnTo>
                    <a:pt x="7378700" y="2832100"/>
                  </a:lnTo>
                  <a:lnTo>
                    <a:pt x="0" y="2832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6543" r="-63511" b="-31175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5310" y="676475"/>
            <a:ext cx="7991475" cy="2276475"/>
            <a:chOff x="0" y="0"/>
            <a:chExt cx="10655300" cy="3035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55300" cy="3035300"/>
            </a:xfrm>
            <a:custGeom>
              <a:avLst/>
              <a:gdLst/>
              <a:ahLst/>
              <a:cxnLst/>
              <a:rect r="r" b="b" t="t" l="l"/>
              <a:pathLst>
                <a:path h="3035300" w="10655300">
                  <a:moveTo>
                    <a:pt x="0" y="0"/>
                  </a:moveTo>
                  <a:lnTo>
                    <a:pt x="10655300" y="0"/>
                  </a:lnTo>
                  <a:lnTo>
                    <a:pt x="10655300" y="3035300"/>
                  </a:lnTo>
                  <a:lnTo>
                    <a:pt x="0" y="303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1387" r="0" b="-405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38885" y="4053840"/>
            <a:ext cx="6668538" cy="38100"/>
            <a:chOff x="0" y="0"/>
            <a:chExt cx="6668541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68515" cy="38100"/>
            </a:xfrm>
            <a:custGeom>
              <a:avLst/>
              <a:gdLst/>
              <a:ahLst/>
              <a:cxnLst/>
              <a:rect r="r" b="b" t="t" l="l"/>
              <a:pathLst>
                <a:path h="38100" w="6668515">
                  <a:moveTo>
                    <a:pt x="0" y="0"/>
                  </a:moveTo>
                  <a:lnTo>
                    <a:pt x="0" y="38100"/>
                  </a:lnTo>
                  <a:lnTo>
                    <a:pt x="404241" y="38100"/>
                  </a:lnTo>
                  <a:lnTo>
                    <a:pt x="404241" y="0"/>
                  </a:lnTo>
                  <a:close/>
                  <a:moveTo>
                    <a:pt x="517271" y="0"/>
                  </a:moveTo>
                  <a:lnTo>
                    <a:pt x="517271" y="38100"/>
                  </a:lnTo>
                  <a:lnTo>
                    <a:pt x="1956943" y="38100"/>
                  </a:lnTo>
                  <a:lnTo>
                    <a:pt x="1956943" y="0"/>
                  </a:lnTo>
                  <a:close/>
                  <a:moveTo>
                    <a:pt x="2069973" y="0"/>
                  </a:moveTo>
                  <a:lnTo>
                    <a:pt x="2069973" y="38100"/>
                  </a:lnTo>
                  <a:lnTo>
                    <a:pt x="6668515" y="38100"/>
                  </a:lnTo>
                  <a:lnTo>
                    <a:pt x="6668515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29435" y="5459082"/>
            <a:ext cx="5674966" cy="38100"/>
            <a:chOff x="0" y="0"/>
            <a:chExt cx="567497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74872" cy="38100"/>
            </a:xfrm>
            <a:custGeom>
              <a:avLst/>
              <a:gdLst/>
              <a:ahLst/>
              <a:cxnLst/>
              <a:rect r="r" b="b" t="t" l="l"/>
              <a:pathLst>
                <a:path h="38100" w="5674872">
                  <a:moveTo>
                    <a:pt x="0" y="0"/>
                  </a:moveTo>
                  <a:lnTo>
                    <a:pt x="0" y="38100"/>
                  </a:lnTo>
                  <a:lnTo>
                    <a:pt x="404241" y="38100"/>
                  </a:lnTo>
                  <a:lnTo>
                    <a:pt x="404241" y="0"/>
                  </a:lnTo>
                  <a:close/>
                  <a:moveTo>
                    <a:pt x="517271" y="0"/>
                  </a:moveTo>
                  <a:lnTo>
                    <a:pt x="517271" y="38100"/>
                  </a:lnTo>
                  <a:lnTo>
                    <a:pt x="1066039" y="38100"/>
                  </a:lnTo>
                  <a:lnTo>
                    <a:pt x="1066039" y="0"/>
                  </a:lnTo>
                  <a:close/>
                  <a:moveTo>
                    <a:pt x="1869187" y="0"/>
                  </a:moveTo>
                  <a:lnTo>
                    <a:pt x="1869187" y="38100"/>
                  </a:lnTo>
                  <a:lnTo>
                    <a:pt x="5466719" y="38100"/>
                  </a:lnTo>
                  <a:lnTo>
                    <a:pt x="5466719" y="0"/>
                  </a:lnTo>
                  <a:close/>
                  <a:moveTo>
                    <a:pt x="5579749" y="0"/>
                  </a:moveTo>
                  <a:lnTo>
                    <a:pt x="5579749" y="38100"/>
                  </a:lnTo>
                  <a:lnTo>
                    <a:pt x="5674872" y="38100"/>
                  </a:lnTo>
                  <a:lnTo>
                    <a:pt x="567487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8100" y="184242"/>
            <a:ext cx="1681924" cy="49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Live Demo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08767" y="2905782"/>
            <a:ext cx="2810923" cy="55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b="true" sz="3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Live demo link</a:t>
            </a:r>
            <a:r>
              <a:rPr lang="en-US" sz="3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8885" y="3610632"/>
            <a:ext cx="6801803" cy="54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 tooltip="https://startup-backend-tx8s.onrender.com/"/>
              </a:rPr>
              <a:t>https://startup-backend-tx8s.onrender.com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08767" y="4311025"/>
            <a:ext cx="2243023" cy="55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b="true" sz="3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Github link</a:t>
            </a:r>
            <a:r>
              <a:rPr lang="en-US" sz="3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9435" y="5015875"/>
            <a:ext cx="5788381" cy="54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 tooltip="https://github.com/Yashi-28/Startup"/>
              </a:rPr>
              <a:t>https://github.com/Yashi-28/Startup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9473"/>
            <a:ext cx="8991600" cy="547002"/>
            <a:chOff x="0" y="0"/>
            <a:chExt cx="11988800" cy="7293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988800" cy="729361"/>
            </a:xfrm>
            <a:custGeom>
              <a:avLst/>
              <a:gdLst/>
              <a:ahLst/>
              <a:cxnLst/>
              <a:rect r="r" b="b" t="t" l="l"/>
              <a:pathLst>
                <a:path h="729361" w="11988800">
                  <a:moveTo>
                    <a:pt x="0" y="0"/>
                  </a:moveTo>
                  <a:lnTo>
                    <a:pt x="11988800" y="0"/>
                  </a:lnTo>
                  <a:lnTo>
                    <a:pt x="11988800" y="729361"/>
                  </a:lnTo>
                  <a:lnTo>
                    <a:pt x="0" y="729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31" t="0" r="-426" b="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8100" y="184242"/>
            <a:ext cx="5732650" cy="49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FUTURE SCOPE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84178" y="630603"/>
            <a:ext cx="74466" cy="410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4748" y="630603"/>
            <a:ext cx="7862707" cy="41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•Conclusion</a:t>
            </a: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NexalQ replacesguesswork withclear data metrics,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4748" y="1068753"/>
            <a:ext cx="8352939" cy="4687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showing that integrated machine learning can reliably evaluate startup viability. </a:t>
            </a:r>
          </a:p>
          <a:p>
            <a:pPr algn="l">
              <a:lnSpc>
                <a:spcPts val="4125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b="true" sz="22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Horizons:</a:t>
            </a:r>
          </a:p>
          <a:p>
            <a:pPr algn="l">
              <a:lnSpc>
                <a:spcPts val="4125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•Transitioning core language tasks to the latest google.genai SDK package ecosystem. </a:t>
            </a:r>
          </a:p>
          <a:p>
            <a:pPr algn="l">
              <a:lnSpc>
                <a:spcPts val="4125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•Integrating live web scraping systems to fetch real-time market and competitor metrics.</a:t>
            </a:r>
          </a:p>
          <a:p>
            <a:pPr algn="l">
              <a:lnSpc>
                <a:spcPts val="4125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•Adding automated, secure B2B investor match-making logic directly within the application workspace.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9473"/>
            <a:ext cx="8991600" cy="547002"/>
            <a:chOff x="0" y="0"/>
            <a:chExt cx="11988800" cy="7293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988800" cy="729361"/>
            </a:xfrm>
            <a:custGeom>
              <a:avLst/>
              <a:gdLst/>
              <a:ahLst/>
              <a:cxnLst/>
              <a:rect r="r" b="b" t="t" l="l"/>
              <a:pathLst>
                <a:path h="729361" w="11988800">
                  <a:moveTo>
                    <a:pt x="0" y="0"/>
                  </a:moveTo>
                  <a:lnTo>
                    <a:pt x="11988800" y="0"/>
                  </a:lnTo>
                  <a:lnTo>
                    <a:pt x="11988800" y="729361"/>
                  </a:lnTo>
                  <a:lnTo>
                    <a:pt x="0" y="729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31" t="0" r="-426" b="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16363" y="676475"/>
            <a:ext cx="5475237" cy="5076625"/>
            <a:chOff x="0" y="0"/>
            <a:chExt cx="7300316" cy="67688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00341" cy="6768846"/>
            </a:xfrm>
            <a:custGeom>
              <a:avLst/>
              <a:gdLst/>
              <a:ahLst/>
              <a:cxnLst/>
              <a:rect r="r" b="b" t="t" l="l"/>
              <a:pathLst>
                <a:path h="6768846" w="7300341">
                  <a:moveTo>
                    <a:pt x="0" y="0"/>
                  </a:moveTo>
                  <a:lnTo>
                    <a:pt x="7300341" y="0"/>
                  </a:lnTo>
                  <a:lnTo>
                    <a:pt x="7300341" y="6768846"/>
                  </a:lnTo>
                  <a:lnTo>
                    <a:pt x="0" y="6768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4120" t="-12071" r="-61163" b="-2039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8100" y="184242"/>
            <a:ext cx="4544263" cy="49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1608" y="726596"/>
            <a:ext cx="58293" cy="32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726596"/>
            <a:ext cx="3539823" cy="32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•Python FastAPIenables low-latency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1031396"/>
            <a:ext cx="3513668" cy="4555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processing.</a:t>
            </a:r>
          </a:p>
          <a:p>
            <a:pPr algn="l">
              <a:lnSpc>
                <a:spcPts val="210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•Pandas scales complex data vectors efficiently.</a:t>
            </a:r>
          </a:p>
          <a:p>
            <a:pPr algn="l">
              <a:lnSpc>
                <a:spcPts val="210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•NumPy transforms heavy numerical matrix data.</a:t>
            </a:r>
          </a:p>
          <a:p>
            <a:pPr algn="l">
              <a:lnSpc>
                <a:spcPts val="210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•FastAPI integrates secure RESTful app endpoints.</a:t>
            </a:r>
          </a:p>
          <a:p>
            <a:pPr algn="l">
              <a:lnSpc>
                <a:spcPts val="210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•Scikit-Learn trains advanced machine learning engines.</a:t>
            </a:r>
          </a:p>
          <a:p>
            <a:pPr algn="l">
              <a:lnSpc>
                <a:spcPts val="210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Random Forest calculates venture</a:t>
            </a:r>
          </a:p>
          <a:p>
            <a:pPr algn="l">
              <a:lnSpc>
                <a:spcPts val="210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 probabilities.</a:t>
            </a:r>
          </a:p>
          <a:p>
            <a:pPr algn="l">
              <a:lnSpc>
                <a:spcPts val="210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•Classifiers accurately predict target industry verticals.</a:t>
            </a:r>
          </a:p>
          <a:p>
            <a:pPr algn="l">
              <a:lnSpc>
                <a:spcPts val="210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•Gemini AI dynamically parses</a:t>
            </a:r>
          </a:p>
          <a:p>
            <a:pPr algn="l">
              <a:lnSpc>
                <a:spcPts val="210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 metrics.</a:t>
            </a:r>
          </a:p>
          <a:p>
            <a:pPr algn="l">
              <a:lnSpc>
                <a:spcPts val="210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Generative models synthesize</a:t>
            </a:r>
          </a:p>
          <a:p>
            <a:pPr algn="l">
              <a:lnSpc>
                <a:spcPts val="210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 business strategies.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02582" y="2088347"/>
            <a:ext cx="3258112" cy="85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9"/>
              </a:lnSpc>
            </a:pPr>
            <a:r>
              <a:rPr lang="en-US" b="true" sz="4920">
                <a:solidFill>
                  <a:srgbClr val="0D358D"/>
                </a:solidFill>
                <a:latin typeface="Arial Bold"/>
                <a:ea typeface="Arial Bold"/>
                <a:cs typeface="Arial Bold"/>
                <a:sym typeface="Arial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DAHPPZThLvA</dc:identifier>
  <dcterms:modified xsi:type="dcterms:W3CDTF">2011-08-01T06:04:30Z</dcterms:modified>
  <cp:revision>1</cp:revision>
  <dc:title>PPT_SRM.pptx_20260713_101302_0000.pdf</dc:title>
</cp:coreProperties>
</file>